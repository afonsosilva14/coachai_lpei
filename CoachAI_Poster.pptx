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4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68" y="-1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98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30275784" cy="2286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PT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4378960" cy="437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0" y="411480"/>
            <a:ext cx="2606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 Engenharia Informática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657600" y="1005840"/>
            <a:ext cx="2606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 Engenharia </a:t>
            </a:r>
            <a:r>
              <a:rPr lang="en-US" sz="4000" dirty="0" err="1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r>
              <a:rPr lang="en-US" sz="4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2025/2026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29361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CoachAI</a:t>
            </a:r>
            <a:endParaRPr lang="en-US" sz="170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29361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Automática da Técnica de Exercícios com Human Pose Estimation On-Device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29361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Afonso Silva al82140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2936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António Sousa  |  Coorientador: Prof. Vítor Filipe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0" y="40608504"/>
            <a:ext cx="30275784" cy="219456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12" name="Shape 9"/>
          <p:cNvSpPr/>
          <p:nvPr/>
        </p:nvSpPr>
        <p:spPr>
          <a:xfrm>
            <a:off x="0" y="40608504"/>
            <a:ext cx="30275784" cy="109728"/>
          </a:xfrm>
          <a:prstGeom prst="rect">
            <a:avLst/>
          </a:prstGeom>
          <a:solidFill>
            <a:srgbClr val="E8440A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019984"/>
            <a:ext cx="1521406" cy="1371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94496" y="41019984"/>
            <a:ext cx="1463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Ciências e Tecnologia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B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Trás os Montes e Alto Douro</a:t>
            </a:r>
            <a:endParaRPr lang="en-US" sz="3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8953" y="40882823"/>
            <a:ext cx="5849631" cy="150876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5394960"/>
            <a:ext cx="14388084" cy="8437626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2"/>
          <p:cNvSpPr/>
          <p:nvPr/>
        </p:nvSpPr>
        <p:spPr>
          <a:xfrm>
            <a:off x="512064" y="5384799"/>
            <a:ext cx="201168" cy="8437623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PT" dirty="0">
              <a:solidFill>
                <a:srgbClr val="FF0000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868680" y="5577840"/>
            <a:ext cx="13930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868680" y="6245352"/>
            <a:ext cx="13839444" cy="0"/>
          </a:xfrm>
          <a:prstGeom prst="line">
            <a:avLst/>
          </a:prstGeom>
          <a:noFill/>
          <a:ln w="1905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20" name="Text 15"/>
          <p:cNvSpPr/>
          <p:nvPr/>
        </p:nvSpPr>
        <p:spPr>
          <a:xfrm>
            <a:off x="886968" y="6400800"/>
            <a:ext cx="13885164" cy="724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4400" dirty="0"/>
              <a:t>• A </a:t>
            </a:r>
            <a:r>
              <a:rPr lang="pt-PT" sz="4400" b="1" dirty="0" err="1"/>
              <a:t>Human</a:t>
            </a:r>
            <a:r>
              <a:rPr lang="pt-PT" sz="4400" b="1" dirty="0"/>
              <a:t> Pose </a:t>
            </a:r>
            <a:r>
              <a:rPr lang="pt-PT" sz="4400" b="1" dirty="0" err="1"/>
              <a:t>Estimation</a:t>
            </a:r>
            <a:r>
              <a:rPr lang="pt-PT" sz="4400" b="1" dirty="0"/>
              <a:t> (HPE) </a:t>
            </a:r>
            <a:r>
              <a:rPr lang="pt-PT" sz="4400" dirty="0"/>
              <a:t>tem vindo a ganhar relevância em aplicações de fitness, reabilitação e análise biomecânica.</a:t>
            </a:r>
          </a:p>
          <a:p>
            <a:r>
              <a:rPr lang="pt-PT" sz="4400" dirty="0"/>
              <a:t>• O </a:t>
            </a:r>
            <a:r>
              <a:rPr lang="pt-PT" sz="4400" dirty="0" err="1"/>
              <a:t>CoachAI</a:t>
            </a:r>
            <a:r>
              <a:rPr lang="pt-PT" sz="4400" dirty="0"/>
              <a:t> usa a câmara do smartphone e visão por computador para detetar </a:t>
            </a:r>
            <a:r>
              <a:rPr lang="pt-PT" sz="4400" dirty="0" err="1"/>
              <a:t>landmarks</a:t>
            </a:r>
            <a:r>
              <a:rPr lang="pt-PT" sz="4400" dirty="0"/>
              <a:t> corporais e analisar exercícios físicos em tempo real.</a:t>
            </a:r>
          </a:p>
          <a:p>
            <a:r>
              <a:rPr lang="pt-PT" sz="4400" dirty="0"/>
              <a:t>• O processamento é realizado totalmente </a:t>
            </a:r>
            <a:r>
              <a:rPr lang="pt-PT" sz="4400" b="1" dirty="0" err="1"/>
              <a:t>on-device</a:t>
            </a:r>
            <a:r>
              <a:rPr lang="pt-PT" sz="4400" dirty="0"/>
              <a:t>, garantindo baixa latência e maior privacidade dos dados.</a:t>
            </a:r>
          </a:p>
        </p:txBody>
      </p:sp>
      <p:sp>
        <p:nvSpPr>
          <p:cNvPr id="21" name="Shape 16"/>
          <p:cNvSpPr/>
          <p:nvPr/>
        </p:nvSpPr>
        <p:spPr>
          <a:xfrm>
            <a:off x="15384780" y="5394960"/>
            <a:ext cx="14388084" cy="8437626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Shape 17"/>
          <p:cNvSpPr/>
          <p:nvPr/>
        </p:nvSpPr>
        <p:spPr>
          <a:xfrm>
            <a:off x="15393924" y="5422391"/>
            <a:ext cx="256032" cy="8410193"/>
          </a:xfrm>
          <a:prstGeom prst="rect">
            <a:avLst/>
          </a:prstGeom>
          <a:solidFill>
            <a:srgbClr val="0D7B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18"/>
          <p:cNvSpPr/>
          <p:nvPr/>
        </p:nvSpPr>
        <p:spPr>
          <a:xfrm>
            <a:off x="15750540" y="5577840"/>
            <a:ext cx="13930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6000" dirty="0"/>
          </a:p>
        </p:txBody>
      </p:sp>
      <p:sp>
        <p:nvSpPr>
          <p:cNvPr id="24" name="Shape 19"/>
          <p:cNvSpPr/>
          <p:nvPr/>
        </p:nvSpPr>
        <p:spPr>
          <a:xfrm>
            <a:off x="15750540" y="6245352"/>
            <a:ext cx="13839444" cy="0"/>
          </a:xfrm>
          <a:prstGeom prst="line">
            <a:avLst/>
          </a:prstGeom>
          <a:noFill/>
          <a:ln w="1905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0"/>
          <p:cNvSpPr/>
          <p:nvPr/>
        </p:nvSpPr>
        <p:spPr>
          <a:xfrm>
            <a:off x="15768828" y="6400800"/>
            <a:ext cx="6252972" cy="724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b="1" dirty="0"/>
              <a:t>HPE</a:t>
            </a:r>
            <a:r>
              <a:rPr lang="pt-PT" sz="4400" dirty="0"/>
              <a:t> em tempo real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dirty="0"/>
              <a:t>Feedback corretivo automático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dirty="0"/>
              <a:t>Cálculo de ângulos articulares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dirty="0"/>
              <a:t>Comparação de modelos </a:t>
            </a:r>
            <a:r>
              <a:rPr lang="pt-PT" sz="4400" b="1" dirty="0"/>
              <a:t>HPE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dirty="0"/>
              <a:t>Processamento real-time </a:t>
            </a:r>
            <a:r>
              <a:rPr lang="pt-PT" sz="4400" b="1" dirty="0" err="1"/>
              <a:t>on-device</a:t>
            </a:r>
            <a:endParaRPr lang="pt-PT" sz="4400" b="1" dirty="0"/>
          </a:p>
        </p:txBody>
      </p:sp>
      <p:sp>
        <p:nvSpPr>
          <p:cNvPr id="26" name="Shape 21"/>
          <p:cNvSpPr/>
          <p:nvPr/>
        </p:nvSpPr>
        <p:spPr>
          <a:xfrm>
            <a:off x="502920" y="14198346"/>
            <a:ext cx="14388084" cy="8437626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7" name="Shape 22"/>
          <p:cNvSpPr/>
          <p:nvPr/>
        </p:nvSpPr>
        <p:spPr>
          <a:xfrm>
            <a:off x="512064" y="14198346"/>
            <a:ext cx="210312" cy="8405264"/>
          </a:xfrm>
          <a:prstGeom prst="rect">
            <a:avLst/>
          </a:prstGeom>
          <a:solidFill>
            <a:srgbClr val="2C3E6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Text 23"/>
          <p:cNvSpPr/>
          <p:nvPr/>
        </p:nvSpPr>
        <p:spPr>
          <a:xfrm>
            <a:off x="868680" y="14381226"/>
            <a:ext cx="13930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5400" dirty="0"/>
          </a:p>
        </p:txBody>
      </p:sp>
      <p:sp>
        <p:nvSpPr>
          <p:cNvPr id="29" name="Shape 24"/>
          <p:cNvSpPr/>
          <p:nvPr/>
        </p:nvSpPr>
        <p:spPr>
          <a:xfrm>
            <a:off x="868680" y="15048738"/>
            <a:ext cx="13839444" cy="0"/>
          </a:xfrm>
          <a:prstGeom prst="line">
            <a:avLst/>
          </a:prstGeom>
          <a:noFill/>
          <a:ln w="1905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6"/>
          <p:cNvSpPr/>
          <p:nvPr/>
        </p:nvSpPr>
        <p:spPr>
          <a:xfrm>
            <a:off x="822960" y="15204186"/>
            <a:ext cx="4518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PT" sz="4400" b="1" dirty="0">
                <a:solidFill>
                  <a:schemeClr val="bg1"/>
                </a:solidFill>
              </a:rPr>
              <a:t>Mobile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54" name="Shape 49"/>
          <p:cNvSpPr/>
          <p:nvPr/>
        </p:nvSpPr>
        <p:spPr>
          <a:xfrm>
            <a:off x="15384780" y="14198346"/>
            <a:ext cx="14388084" cy="8437626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PT" dirty="0">
              <a:highlight>
                <a:srgbClr val="FF0000"/>
              </a:highlight>
            </a:endParaRPr>
          </a:p>
        </p:txBody>
      </p:sp>
      <p:sp>
        <p:nvSpPr>
          <p:cNvPr id="55" name="Shape 50"/>
          <p:cNvSpPr/>
          <p:nvPr/>
        </p:nvSpPr>
        <p:spPr>
          <a:xfrm>
            <a:off x="15393924" y="14198345"/>
            <a:ext cx="256032" cy="8382759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6" name="Text 51"/>
          <p:cNvSpPr/>
          <p:nvPr/>
        </p:nvSpPr>
        <p:spPr>
          <a:xfrm>
            <a:off x="15750540" y="14381226"/>
            <a:ext cx="13930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5400" dirty="0"/>
          </a:p>
        </p:txBody>
      </p:sp>
      <p:sp>
        <p:nvSpPr>
          <p:cNvPr id="57" name="Shape 52"/>
          <p:cNvSpPr/>
          <p:nvPr/>
        </p:nvSpPr>
        <p:spPr>
          <a:xfrm>
            <a:off x="15750540" y="15048738"/>
            <a:ext cx="13839444" cy="0"/>
          </a:xfrm>
          <a:prstGeom prst="line">
            <a:avLst/>
          </a:prstGeom>
          <a:noFill/>
          <a:ln w="1905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0" name="Text 55"/>
          <p:cNvSpPr/>
          <p:nvPr/>
        </p:nvSpPr>
        <p:spPr>
          <a:xfrm>
            <a:off x="22213062" y="16544239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BC5"/>
                </a:solidFill>
              </a:rPr>
              <a:t>↓</a:t>
            </a:r>
            <a:endParaRPr lang="en-US" sz="1800" dirty="0"/>
          </a:p>
        </p:txBody>
      </p:sp>
      <p:sp>
        <p:nvSpPr>
          <p:cNvPr id="63" name="Text 58"/>
          <p:cNvSpPr/>
          <p:nvPr/>
        </p:nvSpPr>
        <p:spPr>
          <a:xfrm>
            <a:off x="22213062" y="1802145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BC5"/>
                </a:solidFill>
              </a:rPr>
              <a:t>↓</a:t>
            </a:r>
            <a:endParaRPr lang="en-US" sz="1800" dirty="0"/>
          </a:p>
        </p:txBody>
      </p:sp>
      <p:sp>
        <p:nvSpPr>
          <p:cNvPr id="66" name="Text 61"/>
          <p:cNvSpPr/>
          <p:nvPr/>
        </p:nvSpPr>
        <p:spPr>
          <a:xfrm>
            <a:off x="22213062" y="1949866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BC5"/>
                </a:solidFill>
              </a:rPr>
              <a:t>↓</a:t>
            </a:r>
            <a:endParaRPr lang="en-US" sz="1800" dirty="0"/>
          </a:p>
        </p:txBody>
      </p:sp>
      <p:sp>
        <p:nvSpPr>
          <p:cNvPr id="69" name="Text 64"/>
          <p:cNvSpPr/>
          <p:nvPr/>
        </p:nvSpPr>
        <p:spPr>
          <a:xfrm>
            <a:off x="22213062" y="20975879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BC5"/>
                </a:solidFill>
              </a:rPr>
              <a:t>↓</a:t>
            </a:r>
            <a:endParaRPr lang="en-US" sz="1800" dirty="0"/>
          </a:p>
        </p:txBody>
      </p:sp>
      <p:sp>
        <p:nvSpPr>
          <p:cNvPr id="72" name="Shape 67"/>
          <p:cNvSpPr/>
          <p:nvPr/>
        </p:nvSpPr>
        <p:spPr>
          <a:xfrm>
            <a:off x="502920" y="23001732"/>
            <a:ext cx="14388084" cy="8437626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3" name="Shape 68"/>
          <p:cNvSpPr/>
          <p:nvPr/>
        </p:nvSpPr>
        <p:spPr>
          <a:xfrm>
            <a:off x="512064" y="23001731"/>
            <a:ext cx="226795" cy="8437617"/>
          </a:xfrm>
          <a:prstGeom prst="rect">
            <a:avLst/>
          </a:prstGeom>
          <a:solidFill>
            <a:srgbClr val="0D7B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4" name="Text 69"/>
          <p:cNvSpPr/>
          <p:nvPr/>
        </p:nvSpPr>
        <p:spPr>
          <a:xfrm>
            <a:off x="868680" y="23184612"/>
            <a:ext cx="13930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Modelos HPE</a:t>
            </a:r>
            <a:endParaRPr lang="en-US" sz="5400" dirty="0"/>
          </a:p>
        </p:txBody>
      </p:sp>
      <p:sp>
        <p:nvSpPr>
          <p:cNvPr id="75" name="Shape 70"/>
          <p:cNvSpPr/>
          <p:nvPr/>
        </p:nvSpPr>
        <p:spPr>
          <a:xfrm>
            <a:off x="868680" y="23852124"/>
            <a:ext cx="13839444" cy="0"/>
          </a:xfrm>
          <a:prstGeom prst="line">
            <a:avLst/>
          </a:prstGeom>
          <a:noFill/>
          <a:ln w="1905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8" name="Shape 72"/>
          <p:cNvSpPr/>
          <p:nvPr/>
        </p:nvSpPr>
        <p:spPr>
          <a:xfrm>
            <a:off x="15384780" y="23001732"/>
            <a:ext cx="14388084" cy="8437626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PT" dirty="0"/>
          </a:p>
        </p:txBody>
      </p:sp>
      <p:sp>
        <p:nvSpPr>
          <p:cNvPr id="79" name="Shape 73"/>
          <p:cNvSpPr/>
          <p:nvPr/>
        </p:nvSpPr>
        <p:spPr>
          <a:xfrm>
            <a:off x="15393924" y="23166324"/>
            <a:ext cx="201168" cy="8108442"/>
          </a:xfrm>
          <a:prstGeom prst="rect">
            <a:avLst/>
          </a:prstGeom>
          <a:solidFill>
            <a:srgbClr val="0D7B6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0" name="Text 74"/>
          <p:cNvSpPr/>
          <p:nvPr/>
        </p:nvSpPr>
        <p:spPr>
          <a:xfrm>
            <a:off x="15750540" y="23184612"/>
            <a:ext cx="13930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5400" dirty="0"/>
          </a:p>
        </p:txBody>
      </p:sp>
      <p:sp>
        <p:nvSpPr>
          <p:cNvPr id="81" name="Shape 75"/>
          <p:cNvSpPr/>
          <p:nvPr/>
        </p:nvSpPr>
        <p:spPr>
          <a:xfrm>
            <a:off x="15750540" y="23852124"/>
            <a:ext cx="13839444" cy="0"/>
          </a:xfrm>
          <a:prstGeom prst="line">
            <a:avLst/>
          </a:prstGeom>
          <a:noFill/>
          <a:ln w="1905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2" name="Shape 76"/>
          <p:cNvSpPr/>
          <p:nvPr/>
        </p:nvSpPr>
        <p:spPr>
          <a:xfrm>
            <a:off x="15914219" y="25576959"/>
            <a:ext cx="6896862" cy="3442541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25400">
            <a:solidFill>
              <a:srgbClr val="E8440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/>
              <a:t>70–75 FPS em tempo real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/>
              <a:t>Processamento totalmente </a:t>
            </a:r>
            <a:r>
              <a:rPr lang="pt-PT" sz="3600" dirty="0" err="1"/>
              <a:t>on-device</a:t>
            </a:r>
            <a:endParaRPr lang="pt-PT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/>
              <a:t>Feedback imediato ao utilizador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/>
              <a:t>Baixa latência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/>
              <a:t>Experiência fluida</a:t>
            </a:r>
          </a:p>
        </p:txBody>
      </p:sp>
      <p:sp>
        <p:nvSpPr>
          <p:cNvPr id="83" name="Shape 77"/>
          <p:cNvSpPr/>
          <p:nvPr/>
        </p:nvSpPr>
        <p:spPr>
          <a:xfrm>
            <a:off x="15933674" y="24830532"/>
            <a:ext cx="6896862" cy="685800"/>
          </a:xfrm>
          <a:prstGeom prst="rect">
            <a:avLst/>
          </a:prstGeom>
          <a:solidFill>
            <a:srgbClr val="E8440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4" name="Text 78"/>
          <p:cNvSpPr/>
          <p:nvPr/>
        </p:nvSpPr>
        <p:spPr>
          <a:xfrm>
            <a:off x="15914219" y="24830532"/>
            <a:ext cx="68968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Resultado</a:t>
            </a:r>
            <a:r>
              <a:rPr lang="en-US" sz="4800" b="1" dirty="0">
                <a:solidFill>
                  <a:schemeClr val="bg1"/>
                </a:solidFill>
              </a:rPr>
              <a:t> Principal</a:t>
            </a:r>
          </a:p>
        </p:txBody>
      </p:sp>
      <p:sp>
        <p:nvSpPr>
          <p:cNvPr id="85" name="Text 79"/>
          <p:cNvSpPr/>
          <p:nvPr/>
        </p:nvSpPr>
        <p:spPr>
          <a:xfrm>
            <a:off x="15869412" y="24830532"/>
            <a:ext cx="6622542" cy="2572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98" name="Shape 92"/>
          <p:cNvSpPr/>
          <p:nvPr/>
        </p:nvSpPr>
        <p:spPr>
          <a:xfrm>
            <a:off x="502920" y="31805118"/>
            <a:ext cx="14388084" cy="8437626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9" name="Shape 93"/>
          <p:cNvSpPr/>
          <p:nvPr/>
        </p:nvSpPr>
        <p:spPr>
          <a:xfrm>
            <a:off x="512063" y="31805118"/>
            <a:ext cx="210313" cy="843762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0" name="Text 94"/>
          <p:cNvSpPr/>
          <p:nvPr/>
        </p:nvSpPr>
        <p:spPr>
          <a:xfrm>
            <a:off x="868680" y="31987998"/>
            <a:ext cx="13930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5400" b="1" dirty="0"/>
              <a:t>Variação Angular</a:t>
            </a:r>
            <a:endParaRPr lang="en-US" sz="5400" b="1" dirty="0"/>
          </a:p>
        </p:txBody>
      </p:sp>
      <p:sp>
        <p:nvSpPr>
          <p:cNvPr id="101" name="Shape 95"/>
          <p:cNvSpPr/>
          <p:nvPr/>
        </p:nvSpPr>
        <p:spPr>
          <a:xfrm>
            <a:off x="868680" y="32655510"/>
            <a:ext cx="13839444" cy="0"/>
          </a:xfrm>
          <a:prstGeom prst="line">
            <a:avLst/>
          </a:prstGeom>
          <a:noFill/>
          <a:ln w="1905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3" name="Shape 97"/>
          <p:cNvSpPr/>
          <p:nvPr/>
        </p:nvSpPr>
        <p:spPr>
          <a:xfrm>
            <a:off x="15384780" y="31805118"/>
            <a:ext cx="14388084" cy="8437626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12700">
            <a:solidFill>
              <a:srgbClr val="E0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4" name="Shape 98"/>
          <p:cNvSpPr/>
          <p:nvPr/>
        </p:nvSpPr>
        <p:spPr>
          <a:xfrm>
            <a:off x="15393924" y="31805118"/>
            <a:ext cx="201168" cy="8437626"/>
          </a:xfrm>
          <a:prstGeom prst="rect">
            <a:avLst/>
          </a:prstGeom>
          <a:solidFill>
            <a:srgbClr val="2C3E6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5" name="Text 99"/>
          <p:cNvSpPr/>
          <p:nvPr/>
        </p:nvSpPr>
        <p:spPr>
          <a:xfrm>
            <a:off x="15750540" y="31987998"/>
            <a:ext cx="139308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5400" dirty="0"/>
          </a:p>
        </p:txBody>
      </p:sp>
      <p:sp>
        <p:nvSpPr>
          <p:cNvPr id="106" name="Shape 100"/>
          <p:cNvSpPr/>
          <p:nvPr/>
        </p:nvSpPr>
        <p:spPr>
          <a:xfrm>
            <a:off x="15750540" y="32655510"/>
            <a:ext cx="13839444" cy="0"/>
          </a:xfrm>
          <a:prstGeom prst="line">
            <a:avLst/>
          </a:prstGeom>
          <a:noFill/>
          <a:ln w="1905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8" name="Text 102"/>
          <p:cNvSpPr/>
          <p:nvPr/>
        </p:nvSpPr>
        <p:spPr>
          <a:xfrm>
            <a:off x="16024860" y="32993838"/>
            <a:ext cx="6467094" cy="688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4400" dirty="0"/>
              <a:t>• </a:t>
            </a:r>
            <a:r>
              <a:rPr lang="pt-PT" sz="4400" b="1" dirty="0"/>
              <a:t>HPE</a:t>
            </a:r>
            <a:r>
              <a:rPr lang="pt-PT" sz="4400" dirty="0"/>
              <a:t> em tempo real num smartphone</a:t>
            </a:r>
          </a:p>
          <a:p>
            <a:r>
              <a:rPr lang="pt-PT" sz="4400" dirty="0"/>
              <a:t>• Processamento totalmente </a:t>
            </a:r>
            <a:r>
              <a:rPr lang="pt-PT" sz="4400" b="1" dirty="0" err="1"/>
              <a:t>on-device</a:t>
            </a:r>
            <a:endParaRPr lang="pt-PT" sz="4400" b="1" dirty="0"/>
          </a:p>
          <a:p>
            <a:r>
              <a:rPr lang="pt-PT" sz="4400" dirty="0"/>
              <a:t>• Cálculo automático de ângulos articulares</a:t>
            </a:r>
          </a:p>
          <a:p>
            <a:r>
              <a:rPr lang="pt-PT" sz="4400" dirty="0"/>
              <a:t>• Feedback visual imediato</a:t>
            </a:r>
          </a:p>
        </p:txBody>
      </p:sp>
      <p:pic>
        <p:nvPicPr>
          <p:cNvPr id="122" name="Imagem 121" descr="A person wearing a full-body rollerblade suit stands in a room, holding their arms out to balance.&#10;&#10;Os conteúdos gerados por IA podem estar incorretos.">
            <a:extLst>
              <a:ext uri="{FF2B5EF4-FFF2-40B4-BE49-F238E27FC236}">
                <a16:creationId xmlns:a16="http://schemas.microsoft.com/office/drawing/2014/main" id="{2F5D385D-E571-4E39-40AD-CF4723138F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329" r="30871"/>
          <a:stretch>
            <a:fillRect/>
          </a:stretch>
        </p:blipFill>
        <p:spPr>
          <a:xfrm>
            <a:off x="23095069" y="23852124"/>
            <a:ext cx="2196846" cy="7007346"/>
          </a:xfrm>
          <a:prstGeom prst="rect">
            <a:avLst/>
          </a:prstGeom>
        </p:spPr>
      </p:pic>
      <p:pic>
        <p:nvPicPr>
          <p:cNvPr id="126" name="Imagem 125" descr="The image depicts a person in a motion capture suit, illustrating their movement in a 3D space with anatomical markers.&#10;&#10;Os conteúdos gerados por IA podem estar incorretos.">
            <a:extLst>
              <a:ext uri="{FF2B5EF4-FFF2-40B4-BE49-F238E27FC236}">
                <a16:creationId xmlns:a16="http://schemas.microsoft.com/office/drawing/2014/main" id="{98BD446D-D6EA-6674-D92F-2165F98A17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987" r="6001"/>
          <a:stretch>
            <a:fillRect/>
          </a:stretch>
        </p:blipFill>
        <p:spPr>
          <a:xfrm>
            <a:off x="25291915" y="23852124"/>
            <a:ext cx="2782111" cy="7007346"/>
          </a:xfrm>
          <a:prstGeom prst="rect">
            <a:avLst/>
          </a:prstGeom>
        </p:spPr>
      </p:pic>
      <p:pic>
        <p:nvPicPr>
          <p:cNvPr id="87" name="Imagem 86" descr="The image illustrates a multi-step video capture process involving smartphone camera, Kotlin, MediaPipe for human pose estimation, OpenCV for landmark extraction, and real-time feedback.&#10;&#10;Os conteúdos gerados por IA podem estar incorretos.">
            <a:extLst>
              <a:ext uri="{FF2B5EF4-FFF2-40B4-BE49-F238E27FC236}">
                <a16:creationId xmlns:a16="http://schemas.microsoft.com/office/drawing/2014/main" id="{4F82D899-D2DD-29D8-F4B7-17AD94B4E5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596" r="38766"/>
          <a:stretch>
            <a:fillRect/>
          </a:stretch>
        </p:blipFill>
        <p:spPr>
          <a:xfrm>
            <a:off x="19251173" y="15129010"/>
            <a:ext cx="6655297" cy="7203053"/>
          </a:xfrm>
          <a:prstGeom prst="rect">
            <a:avLst/>
          </a:prstGeom>
        </p:spPr>
      </p:pic>
      <p:pic>
        <p:nvPicPr>
          <p:cNvPr id="89" name="Imagem 88" descr="The image is a visual representation of a list of various technologies and tools related to mobile app development, including Kotlin, CameraX, MediaPipe, Pose Landmarker, OpenCV, and an FPS (frames per second) analyzer.&#10;&#10;Os conteúdos gerados por IA podem estar incorretos.">
            <a:extLst>
              <a:ext uri="{FF2B5EF4-FFF2-40B4-BE49-F238E27FC236}">
                <a16:creationId xmlns:a16="http://schemas.microsoft.com/office/drawing/2014/main" id="{B8DFF4BC-AEC5-75FA-3849-A1355C4E732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533"/>
          <a:stretch>
            <a:fillRect/>
          </a:stretch>
        </p:blipFill>
        <p:spPr>
          <a:xfrm>
            <a:off x="9690714" y="15129009"/>
            <a:ext cx="5140580" cy="7474601"/>
          </a:xfrm>
          <a:prstGeom prst="rect">
            <a:avLst/>
          </a:prstGeom>
        </p:spPr>
      </p:pic>
      <p:sp>
        <p:nvSpPr>
          <p:cNvPr id="90" name="CaixaDeTexto 89">
            <a:extLst>
              <a:ext uri="{FF2B5EF4-FFF2-40B4-BE49-F238E27FC236}">
                <a16:creationId xmlns:a16="http://schemas.microsoft.com/office/drawing/2014/main" id="{C234C122-66E3-CFD2-26F5-0EC7C748C534}"/>
              </a:ext>
            </a:extLst>
          </p:cNvPr>
          <p:cNvSpPr txBox="1"/>
          <p:nvPr/>
        </p:nvSpPr>
        <p:spPr>
          <a:xfrm>
            <a:off x="1099873" y="16662781"/>
            <a:ext cx="82133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b="1" dirty="0" err="1"/>
              <a:t>Kotlin</a:t>
            </a:r>
            <a:r>
              <a:rPr lang="pt-PT" sz="4400" dirty="0"/>
              <a:t> – Aplicação 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b="1" dirty="0" err="1"/>
              <a:t>CameraX</a:t>
            </a:r>
            <a:r>
              <a:rPr lang="pt-PT" sz="4400" dirty="0"/>
              <a:t> – Captura de vídeo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b="1" dirty="0" err="1"/>
              <a:t>MediaPipe</a:t>
            </a:r>
            <a:r>
              <a:rPr lang="pt-PT" sz="4400" b="1" dirty="0"/>
              <a:t> Pose </a:t>
            </a:r>
            <a:r>
              <a:rPr lang="pt-PT" sz="4400" b="1" dirty="0" err="1"/>
              <a:t>Landmarker</a:t>
            </a:r>
            <a:r>
              <a:rPr lang="pt-PT" sz="4400" b="1" dirty="0"/>
              <a:t> </a:t>
            </a:r>
            <a:r>
              <a:rPr lang="pt-PT" sz="4400" dirty="0"/>
              <a:t>– Deteção da pose humana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4400" b="1" dirty="0" err="1"/>
              <a:t>OpenCV</a:t>
            </a:r>
            <a:r>
              <a:rPr lang="pt-PT" sz="4400" dirty="0"/>
              <a:t> – Processamento de imagem</a:t>
            </a:r>
          </a:p>
        </p:txBody>
      </p:sp>
      <p:pic>
        <p:nvPicPr>
          <p:cNvPr id="32" name="Imagem 31" descr="The diagram illustrates the angular variation of the elbow, with values ranging from 180 to 0 degrees over time.&#10;&#10;Os conteúdos gerados por IA podem estar incorretos.">
            <a:extLst>
              <a:ext uri="{FF2B5EF4-FFF2-40B4-BE49-F238E27FC236}">
                <a16:creationId xmlns:a16="http://schemas.microsoft.com/office/drawing/2014/main" id="{C2BE8B69-F6C4-D5D2-C1A3-233AE0C2EF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859" y="32794947"/>
            <a:ext cx="14119574" cy="7214633"/>
          </a:xfrm>
          <a:prstGeom prst="rect">
            <a:avLst/>
          </a:prstGeom>
        </p:spPr>
      </p:pic>
      <p:pic>
        <p:nvPicPr>
          <p:cNvPr id="37" name="Imagem 36" descr="A figure is captured mid-pose, wearing a black and blue outfit, with a black belt, and marked by grid lines on a wall.&#10;&#10;Os conteúdos gerados por IA podem estar incorretos.">
            <a:extLst>
              <a:ext uri="{FF2B5EF4-FFF2-40B4-BE49-F238E27FC236}">
                <a16:creationId xmlns:a16="http://schemas.microsoft.com/office/drawing/2014/main" id="{0864E0A7-633D-620E-F2F3-7FC58AA6C7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72242" y="6716909"/>
            <a:ext cx="4391660" cy="6882627"/>
          </a:xfrm>
          <a:prstGeom prst="rect">
            <a:avLst/>
          </a:prstGeom>
        </p:spPr>
      </p:pic>
      <p:pic>
        <p:nvPicPr>
          <p:cNvPr id="41" name="Imagem 40" descr="The image depicts a person in a blue tracksuit, performing a balancing exercise with a white plastic bar on a black mat.&#10;&#10;Os conteúdos gerados por IA podem estar incorretos.">
            <a:extLst>
              <a:ext uri="{FF2B5EF4-FFF2-40B4-BE49-F238E27FC236}">
                <a16:creationId xmlns:a16="http://schemas.microsoft.com/office/drawing/2014/main" id="{2DAC6913-39BA-0175-89C1-67C5A49B1D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63948" y="33116838"/>
            <a:ext cx="3208247" cy="6883146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0C2248F6-4DE2-9C95-5774-81BD8ECEBDA0}"/>
              </a:ext>
            </a:extLst>
          </p:cNvPr>
          <p:cNvSpPr txBox="1"/>
          <p:nvPr/>
        </p:nvSpPr>
        <p:spPr>
          <a:xfrm>
            <a:off x="15859625" y="29051595"/>
            <a:ext cx="6919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 err="1"/>
              <a:t>MediaPipe</a:t>
            </a:r>
            <a:r>
              <a:rPr lang="pt-PT" sz="2800" b="1" dirty="0"/>
              <a:t> ≈ 2× mais rápido que YOLO Pose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C083D3B-F336-F455-E344-3FC387F137CA}"/>
              </a:ext>
            </a:extLst>
          </p:cNvPr>
          <p:cNvSpPr txBox="1"/>
          <p:nvPr/>
        </p:nvSpPr>
        <p:spPr>
          <a:xfrm>
            <a:off x="1126463" y="29791429"/>
            <a:ext cx="13376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/>
              <a:t>A estabilidade temporal foi avaliada através da consistência visual dos </a:t>
            </a:r>
            <a:r>
              <a:rPr lang="pt-PT" sz="2800" b="1" dirty="0" err="1"/>
              <a:t>landmarks</a:t>
            </a:r>
            <a:r>
              <a:rPr lang="pt-PT" sz="2800" b="1" dirty="0"/>
              <a:t> ao longo de </a:t>
            </a:r>
            <a:r>
              <a:rPr lang="pt-PT" sz="2800" b="1" dirty="0" err="1"/>
              <a:t>frames</a:t>
            </a:r>
            <a:r>
              <a:rPr lang="pt-PT" sz="2800" b="1" dirty="0"/>
              <a:t> consecutivos nos vídeos de teste.</a:t>
            </a:r>
          </a:p>
        </p:txBody>
      </p:sp>
      <p:pic>
        <p:nvPicPr>
          <p:cNvPr id="36" name="Imagem 35" descr="The image presents a comparison table of different object detection and tracking models, their compatibility, and their performance in terms of frames per second (FPS) on mobile platforms.&#10;&#10;Os conteúdos gerados por IA podem estar incorretos.">
            <a:extLst>
              <a:ext uri="{FF2B5EF4-FFF2-40B4-BE49-F238E27FC236}">
                <a16:creationId xmlns:a16="http://schemas.microsoft.com/office/drawing/2014/main" id="{1F88EDDF-00BC-EB7A-1A57-237C574E9A8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b="8213"/>
          <a:stretch>
            <a:fillRect/>
          </a:stretch>
        </p:blipFill>
        <p:spPr>
          <a:xfrm>
            <a:off x="1110996" y="24419569"/>
            <a:ext cx="13298756" cy="51589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244</Words>
  <Application>Microsoft Office PowerPoint</Application>
  <PresentationFormat>Personalizados</PresentationFormat>
  <Paragraphs>46</Paragraphs>
  <Slides>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AFONSO LUÍS PEREIRA DA SILVA</cp:lastModifiedBy>
  <cp:revision>33</cp:revision>
  <dcterms:created xsi:type="dcterms:W3CDTF">2026-05-26T09:20:01Z</dcterms:created>
  <dcterms:modified xsi:type="dcterms:W3CDTF">2026-06-11T13:34:19Z</dcterms:modified>
</cp:coreProperties>
</file>