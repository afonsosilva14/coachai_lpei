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0275213" cy="42803763"/>
  <p:notesSz cx="42803763" cy="3027521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4A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50" d="100"/>
          <a:sy n="50" d="100"/>
        </p:scale>
        <p:origin x="24" y="-31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56988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275784" cy="5029200"/>
          </a:xfrm>
          <a:prstGeom prst="rect">
            <a:avLst/>
          </a:prstGeom>
          <a:solidFill>
            <a:schemeClr val="bg2">
              <a:lumMod val="25000"/>
            </a:schemeClr>
          </a:solidFill>
          <a:ln/>
        </p:spPr>
        <p:txBody>
          <a:bodyPr/>
          <a:lstStyle/>
          <a:p>
            <a:endParaRPr lang="pt-PT" dirty="0"/>
          </a:p>
        </p:txBody>
      </p:sp>
      <p:sp>
        <p:nvSpPr>
          <p:cNvPr id="3" name="Shape 1"/>
          <p:cNvSpPr/>
          <p:nvPr/>
        </p:nvSpPr>
        <p:spPr>
          <a:xfrm>
            <a:off x="0" y="5029200"/>
            <a:ext cx="30275784" cy="228600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pt-PT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11480"/>
            <a:ext cx="4378960" cy="4378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0" y="411480"/>
            <a:ext cx="2606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Licenciatura em Engenharia Informática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3657600" y="1005840"/>
            <a:ext cx="2606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em Engenharia </a:t>
            </a:r>
            <a:r>
              <a:rPr lang="en-US" sz="4000" dirty="0" err="1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Informática</a:t>
            </a:r>
            <a:r>
              <a:rPr lang="en-US" sz="40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2025/2026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457200" y="1554480"/>
            <a:ext cx="293613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CoachAI</a:t>
            </a:r>
            <a:endParaRPr lang="en-US" sz="17000" dirty="0"/>
          </a:p>
        </p:txBody>
      </p:sp>
      <p:sp>
        <p:nvSpPr>
          <p:cNvPr id="8" name="Text 5"/>
          <p:cNvSpPr/>
          <p:nvPr/>
        </p:nvSpPr>
        <p:spPr>
          <a:xfrm>
            <a:off x="457200" y="3017520"/>
            <a:ext cx="29361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Automática da Técnica de Exercícios com Human Pose Estimation On-Device</a:t>
            </a:r>
            <a:endParaRPr lang="en-US" sz="3600" dirty="0">
              <a:solidFill>
                <a:srgbClr val="FF0000"/>
              </a:solidFill>
            </a:endParaRPr>
          </a:p>
        </p:txBody>
      </p:sp>
      <p:sp>
        <p:nvSpPr>
          <p:cNvPr id="9" name="Text 6"/>
          <p:cNvSpPr/>
          <p:nvPr/>
        </p:nvSpPr>
        <p:spPr>
          <a:xfrm>
            <a:off x="457200" y="3840480"/>
            <a:ext cx="293613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Afonso Silva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457200" y="4389120"/>
            <a:ext cx="29361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i="1" dirty="0">
                <a:solidFill>
                  <a:srgbClr val="B0B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Orientador: Prof. António Sousa  |  Coorientador: Prof. Vítor Filipe</a:t>
            </a:r>
            <a:endParaRPr lang="en-US" sz="3600" dirty="0"/>
          </a:p>
        </p:txBody>
      </p:sp>
      <p:sp>
        <p:nvSpPr>
          <p:cNvPr id="11" name="Shape 8"/>
          <p:cNvSpPr/>
          <p:nvPr/>
        </p:nvSpPr>
        <p:spPr>
          <a:xfrm>
            <a:off x="0" y="40608504"/>
            <a:ext cx="30275784" cy="2194560"/>
          </a:xfrm>
          <a:prstGeom prst="rect">
            <a:avLst/>
          </a:prstGeom>
          <a:solidFill>
            <a:schemeClr val="bg2">
              <a:lumMod val="25000"/>
            </a:schemeClr>
          </a:solidFill>
          <a:ln/>
        </p:spPr>
        <p:txBody>
          <a:bodyPr/>
          <a:lstStyle/>
          <a:p>
            <a:endParaRPr lang="pt-PT" dirty="0"/>
          </a:p>
        </p:txBody>
      </p:sp>
      <p:sp>
        <p:nvSpPr>
          <p:cNvPr id="12" name="Shape 9"/>
          <p:cNvSpPr/>
          <p:nvPr/>
        </p:nvSpPr>
        <p:spPr>
          <a:xfrm>
            <a:off x="0" y="40608504"/>
            <a:ext cx="30275784" cy="109728"/>
          </a:xfrm>
          <a:prstGeom prst="rect">
            <a:avLst/>
          </a:prstGeom>
          <a:solidFill>
            <a:srgbClr val="E8440A"/>
          </a:solidFill>
          <a:ln/>
        </p:spPr>
        <p:txBody>
          <a:bodyPr/>
          <a:lstStyle/>
          <a:p>
            <a:endParaRPr lang="pt-PT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41019984"/>
            <a:ext cx="1521406" cy="13716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494496" y="41019984"/>
            <a:ext cx="1463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B0B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Escola de Ciências e Tecnologia</a:t>
            </a:r>
            <a:endParaRPr lang="en-US" sz="3200" dirty="0"/>
          </a:p>
          <a:p>
            <a:pPr marL="0" indent="0">
              <a:buNone/>
            </a:pPr>
            <a:r>
              <a:rPr lang="en-US" sz="3200" dirty="0">
                <a:solidFill>
                  <a:srgbClr val="B0B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Universidade de Trás os Montes e Alto Douro</a:t>
            </a:r>
            <a:endParaRPr lang="en-US" sz="32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968953" y="40882823"/>
            <a:ext cx="5849631" cy="1508761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502920" y="5394960"/>
            <a:ext cx="14388084" cy="8437626"/>
          </a:xfrm>
          <a:prstGeom prst="roundRect">
            <a:avLst>
              <a:gd name="adj" fmla="val 1084"/>
            </a:avLst>
          </a:prstGeom>
          <a:solidFill>
            <a:srgbClr val="FFFFFF"/>
          </a:solidFill>
          <a:ln w="12700">
            <a:solidFill>
              <a:srgbClr val="E0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7" name="Shape 12"/>
          <p:cNvSpPr/>
          <p:nvPr/>
        </p:nvSpPr>
        <p:spPr>
          <a:xfrm>
            <a:off x="512064" y="5384799"/>
            <a:ext cx="201168" cy="8437623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pt-PT" dirty="0">
              <a:solidFill>
                <a:srgbClr val="FF0000"/>
              </a:solidFill>
            </a:endParaRPr>
          </a:p>
        </p:txBody>
      </p:sp>
      <p:sp>
        <p:nvSpPr>
          <p:cNvPr id="18" name="Text 13"/>
          <p:cNvSpPr/>
          <p:nvPr/>
        </p:nvSpPr>
        <p:spPr>
          <a:xfrm>
            <a:off x="868680" y="5577840"/>
            <a:ext cx="139308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Introdução</a:t>
            </a:r>
            <a:endParaRPr lang="en-US" sz="3000" dirty="0"/>
          </a:p>
        </p:txBody>
      </p:sp>
      <p:sp>
        <p:nvSpPr>
          <p:cNvPr id="19" name="Shape 14"/>
          <p:cNvSpPr/>
          <p:nvPr/>
        </p:nvSpPr>
        <p:spPr>
          <a:xfrm>
            <a:off x="868680" y="6245352"/>
            <a:ext cx="13839444" cy="0"/>
          </a:xfrm>
          <a:prstGeom prst="line">
            <a:avLst/>
          </a:prstGeom>
          <a:noFill/>
          <a:ln w="19050">
            <a:solidFill>
              <a:srgbClr val="E0E6F0"/>
            </a:solidFill>
            <a:prstDash val="solid"/>
          </a:ln>
        </p:spPr>
        <p:txBody>
          <a:bodyPr/>
          <a:lstStyle/>
          <a:p>
            <a:endParaRPr lang="pt-PT" dirty="0"/>
          </a:p>
        </p:txBody>
      </p:sp>
      <p:sp>
        <p:nvSpPr>
          <p:cNvPr id="20" name="Text 15"/>
          <p:cNvSpPr/>
          <p:nvPr/>
        </p:nvSpPr>
        <p:spPr>
          <a:xfrm>
            <a:off x="886968" y="6400800"/>
            <a:ext cx="13885164" cy="72489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4400" dirty="0">
                <a:solidFill>
                  <a:srgbClr val="3D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da utilização de IA no desporto e fitness</a:t>
            </a:r>
            <a:endParaRPr lang="en-US" sz="4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4400" dirty="0">
                <a:solidFill>
                  <a:srgbClr val="3D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Pose Estimation permite analisar postura corporal em tempo real</a:t>
            </a:r>
            <a:endParaRPr lang="en-US" sz="4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4400" dirty="0">
                <a:solidFill>
                  <a:srgbClr val="3D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avaliar a técnica de exercícios apenas com a câmara do smartphone</a:t>
            </a:r>
            <a:endParaRPr lang="en-US" sz="4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4400" dirty="0">
                <a:solidFill>
                  <a:srgbClr val="3D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Processamento totalmente local (on-device), sem envio de dados para a cloud</a:t>
            </a:r>
            <a:endParaRPr lang="en-US" sz="4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4400" dirty="0">
                <a:solidFill>
                  <a:srgbClr val="3D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 desenvolvida em Android com feedback visual imediato</a:t>
            </a:r>
            <a:endParaRPr lang="en-US" sz="4400" dirty="0"/>
          </a:p>
        </p:txBody>
      </p:sp>
      <p:sp>
        <p:nvSpPr>
          <p:cNvPr id="21" name="Shape 16"/>
          <p:cNvSpPr/>
          <p:nvPr/>
        </p:nvSpPr>
        <p:spPr>
          <a:xfrm>
            <a:off x="15384780" y="5394960"/>
            <a:ext cx="14388084" cy="8437626"/>
          </a:xfrm>
          <a:prstGeom prst="roundRect">
            <a:avLst>
              <a:gd name="adj" fmla="val 1084"/>
            </a:avLst>
          </a:prstGeom>
          <a:solidFill>
            <a:srgbClr val="FFFFFF"/>
          </a:solidFill>
          <a:ln w="12700">
            <a:solidFill>
              <a:srgbClr val="E0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2" name="Shape 17"/>
          <p:cNvSpPr/>
          <p:nvPr/>
        </p:nvSpPr>
        <p:spPr>
          <a:xfrm>
            <a:off x="15393924" y="5559552"/>
            <a:ext cx="201168" cy="8108442"/>
          </a:xfrm>
          <a:prstGeom prst="rect">
            <a:avLst/>
          </a:prstGeom>
          <a:solidFill>
            <a:srgbClr val="0D7B6E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23" name="Text 18"/>
          <p:cNvSpPr/>
          <p:nvPr/>
        </p:nvSpPr>
        <p:spPr>
          <a:xfrm>
            <a:off x="15750540" y="5577840"/>
            <a:ext cx="139308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6000" dirty="0"/>
          </a:p>
        </p:txBody>
      </p:sp>
      <p:sp>
        <p:nvSpPr>
          <p:cNvPr id="24" name="Shape 19"/>
          <p:cNvSpPr/>
          <p:nvPr/>
        </p:nvSpPr>
        <p:spPr>
          <a:xfrm>
            <a:off x="15750540" y="6245352"/>
            <a:ext cx="13839444" cy="0"/>
          </a:xfrm>
          <a:prstGeom prst="line">
            <a:avLst/>
          </a:prstGeom>
          <a:noFill/>
          <a:ln w="19050">
            <a:solidFill>
              <a:srgbClr val="E0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5" name="Text 20"/>
          <p:cNvSpPr/>
          <p:nvPr/>
        </p:nvSpPr>
        <p:spPr>
          <a:xfrm>
            <a:off x="15768828" y="6400800"/>
            <a:ext cx="13885164" cy="72489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4400" dirty="0">
                <a:solidFill>
                  <a:srgbClr val="3D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Detetar pose humana em tempo real via câmara do smartphone</a:t>
            </a:r>
            <a:endParaRPr lang="en-US" sz="4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4400" dirty="0">
                <a:solidFill>
                  <a:srgbClr val="3D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Fornecer feedback corretivo visual e imediato</a:t>
            </a:r>
            <a:endParaRPr lang="en-US" sz="4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4400" dirty="0">
                <a:solidFill>
                  <a:srgbClr val="3D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Calcular métricas biomecânicas (ângulos articulares)</a:t>
            </a:r>
            <a:endParaRPr lang="en-US" sz="4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4400" dirty="0">
                <a:solidFill>
                  <a:srgbClr val="3D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modelos de Human Pose Estimation</a:t>
            </a:r>
            <a:endParaRPr lang="en-US" sz="4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4400" dirty="0">
                <a:solidFill>
                  <a:srgbClr val="3D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Garantir processamento totalmente on-device</a:t>
            </a:r>
            <a:endParaRPr lang="en-US" sz="4400" dirty="0"/>
          </a:p>
        </p:txBody>
      </p:sp>
      <p:sp>
        <p:nvSpPr>
          <p:cNvPr id="26" name="Shape 21"/>
          <p:cNvSpPr/>
          <p:nvPr/>
        </p:nvSpPr>
        <p:spPr>
          <a:xfrm>
            <a:off x="502920" y="14198346"/>
            <a:ext cx="14388084" cy="8437626"/>
          </a:xfrm>
          <a:prstGeom prst="roundRect">
            <a:avLst>
              <a:gd name="adj" fmla="val 1084"/>
            </a:avLst>
          </a:prstGeom>
          <a:solidFill>
            <a:srgbClr val="FFFFFF"/>
          </a:solidFill>
          <a:ln w="12700">
            <a:solidFill>
              <a:srgbClr val="E0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7" name="Shape 22"/>
          <p:cNvSpPr/>
          <p:nvPr/>
        </p:nvSpPr>
        <p:spPr>
          <a:xfrm>
            <a:off x="512064" y="14362938"/>
            <a:ext cx="201168" cy="8108442"/>
          </a:xfrm>
          <a:prstGeom prst="rect">
            <a:avLst/>
          </a:prstGeom>
          <a:solidFill>
            <a:srgbClr val="2C3E6B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28" name="Text 23"/>
          <p:cNvSpPr/>
          <p:nvPr/>
        </p:nvSpPr>
        <p:spPr>
          <a:xfrm>
            <a:off x="868680" y="14381226"/>
            <a:ext cx="139308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Tecnologias Utilizadas</a:t>
            </a:r>
            <a:endParaRPr lang="en-US" sz="5400" dirty="0"/>
          </a:p>
        </p:txBody>
      </p:sp>
      <p:sp>
        <p:nvSpPr>
          <p:cNvPr id="29" name="Shape 24"/>
          <p:cNvSpPr/>
          <p:nvPr/>
        </p:nvSpPr>
        <p:spPr>
          <a:xfrm>
            <a:off x="868680" y="15048738"/>
            <a:ext cx="13839444" cy="0"/>
          </a:xfrm>
          <a:prstGeom prst="line">
            <a:avLst/>
          </a:prstGeom>
          <a:noFill/>
          <a:ln w="19050">
            <a:solidFill>
              <a:srgbClr val="E0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1" name="Text 26"/>
          <p:cNvSpPr/>
          <p:nvPr/>
        </p:nvSpPr>
        <p:spPr>
          <a:xfrm>
            <a:off x="822960" y="15204186"/>
            <a:ext cx="45186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pt-PT" sz="4400" b="1" dirty="0">
                <a:solidFill>
                  <a:schemeClr val="bg1"/>
                </a:solidFill>
              </a:rPr>
              <a:t>Mobile</a:t>
            </a:r>
            <a:endParaRPr lang="en-US" sz="4400" b="1" dirty="0">
              <a:solidFill>
                <a:schemeClr val="bg1"/>
              </a:solidFill>
            </a:endParaRPr>
          </a:p>
        </p:txBody>
      </p:sp>
      <p:sp>
        <p:nvSpPr>
          <p:cNvPr id="54" name="Shape 49"/>
          <p:cNvSpPr/>
          <p:nvPr/>
        </p:nvSpPr>
        <p:spPr>
          <a:xfrm>
            <a:off x="15384780" y="14198346"/>
            <a:ext cx="14388084" cy="8437626"/>
          </a:xfrm>
          <a:prstGeom prst="roundRect">
            <a:avLst>
              <a:gd name="adj" fmla="val 1084"/>
            </a:avLst>
          </a:prstGeom>
          <a:solidFill>
            <a:srgbClr val="FFFFFF"/>
          </a:solidFill>
          <a:ln w="12700">
            <a:solidFill>
              <a:srgbClr val="E0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pt-PT" dirty="0">
              <a:highlight>
                <a:srgbClr val="FF0000"/>
              </a:highlight>
            </a:endParaRPr>
          </a:p>
        </p:txBody>
      </p:sp>
      <p:sp>
        <p:nvSpPr>
          <p:cNvPr id="55" name="Shape 50"/>
          <p:cNvSpPr/>
          <p:nvPr/>
        </p:nvSpPr>
        <p:spPr>
          <a:xfrm>
            <a:off x="15393924" y="14198345"/>
            <a:ext cx="256032" cy="8382759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56" name="Text 51"/>
          <p:cNvSpPr/>
          <p:nvPr/>
        </p:nvSpPr>
        <p:spPr>
          <a:xfrm>
            <a:off x="15750540" y="14381226"/>
            <a:ext cx="139308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do Sistema</a:t>
            </a:r>
            <a:endParaRPr lang="en-US" sz="5400" dirty="0"/>
          </a:p>
        </p:txBody>
      </p:sp>
      <p:sp>
        <p:nvSpPr>
          <p:cNvPr id="57" name="Shape 52"/>
          <p:cNvSpPr/>
          <p:nvPr/>
        </p:nvSpPr>
        <p:spPr>
          <a:xfrm>
            <a:off x="15750540" y="15048738"/>
            <a:ext cx="13839444" cy="0"/>
          </a:xfrm>
          <a:prstGeom prst="line">
            <a:avLst/>
          </a:prstGeom>
          <a:noFill/>
          <a:ln w="19050">
            <a:solidFill>
              <a:srgbClr val="E0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0" name="Text 55"/>
          <p:cNvSpPr/>
          <p:nvPr/>
        </p:nvSpPr>
        <p:spPr>
          <a:xfrm>
            <a:off x="22213062" y="16544239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AABC5"/>
                </a:solidFill>
              </a:rPr>
              <a:t>↓</a:t>
            </a:r>
            <a:endParaRPr lang="en-US" sz="1800" dirty="0"/>
          </a:p>
        </p:txBody>
      </p:sp>
      <p:sp>
        <p:nvSpPr>
          <p:cNvPr id="63" name="Text 58"/>
          <p:cNvSpPr/>
          <p:nvPr/>
        </p:nvSpPr>
        <p:spPr>
          <a:xfrm>
            <a:off x="22213062" y="18021452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AABC5"/>
                </a:solidFill>
              </a:rPr>
              <a:t>↓</a:t>
            </a:r>
            <a:endParaRPr lang="en-US" sz="1800" dirty="0"/>
          </a:p>
        </p:txBody>
      </p:sp>
      <p:sp>
        <p:nvSpPr>
          <p:cNvPr id="66" name="Text 61"/>
          <p:cNvSpPr/>
          <p:nvPr/>
        </p:nvSpPr>
        <p:spPr>
          <a:xfrm>
            <a:off x="22213062" y="19498666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AABC5"/>
                </a:solidFill>
              </a:rPr>
              <a:t>↓</a:t>
            </a:r>
            <a:endParaRPr lang="en-US" sz="1800" dirty="0"/>
          </a:p>
        </p:txBody>
      </p:sp>
      <p:sp>
        <p:nvSpPr>
          <p:cNvPr id="69" name="Text 64"/>
          <p:cNvSpPr/>
          <p:nvPr/>
        </p:nvSpPr>
        <p:spPr>
          <a:xfrm>
            <a:off x="22213062" y="20975879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AABC5"/>
                </a:solidFill>
              </a:rPr>
              <a:t>↓</a:t>
            </a:r>
            <a:endParaRPr lang="en-US" sz="1800" dirty="0"/>
          </a:p>
        </p:txBody>
      </p:sp>
      <p:sp>
        <p:nvSpPr>
          <p:cNvPr id="72" name="Shape 67"/>
          <p:cNvSpPr/>
          <p:nvPr/>
        </p:nvSpPr>
        <p:spPr>
          <a:xfrm>
            <a:off x="502920" y="23001732"/>
            <a:ext cx="14388084" cy="8437626"/>
          </a:xfrm>
          <a:prstGeom prst="roundRect">
            <a:avLst>
              <a:gd name="adj" fmla="val 1084"/>
            </a:avLst>
          </a:prstGeom>
          <a:solidFill>
            <a:srgbClr val="FFFFFF"/>
          </a:solidFill>
          <a:ln w="12700">
            <a:solidFill>
              <a:srgbClr val="E0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73" name="Shape 68"/>
          <p:cNvSpPr/>
          <p:nvPr/>
        </p:nvSpPr>
        <p:spPr>
          <a:xfrm>
            <a:off x="512064" y="23166324"/>
            <a:ext cx="201168" cy="8108442"/>
          </a:xfrm>
          <a:prstGeom prst="rect">
            <a:avLst/>
          </a:prstGeom>
          <a:solidFill>
            <a:srgbClr val="0D7B6E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74" name="Text 69"/>
          <p:cNvSpPr/>
          <p:nvPr/>
        </p:nvSpPr>
        <p:spPr>
          <a:xfrm>
            <a:off x="868680" y="23184612"/>
            <a:ext cx="139308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Comparação de Modelos HPE</a:t>
            </a:r>
            <a:endParaRPr lang="en-US" sz="5400" dirty="0"/>
          </a:p>
        </p:txBody>
      </p:sp>
      <p:sp>
        <p:nvSpPr>
          <p:cNvPr id="75" name="Shape 70"/>
          <p:cNvSpPr/>
          <p:nvPr/>
        </p:nvSpPr>
        <p:spPr>
          <a:xfrm>
            <a:off x="868680" y="23852124"/>
            <a:ext cx="13839444" cy="0"/>
          </a:xfrm>
          <a:prstGeom prst="line">
            <a:avLst/>
          </a:prstGeom>
          <a:noFill/>
          <a:ln w="19050">
            <a:solidFill>
              <a:srgbClr val="E0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78" name="Shape 72"/>
          <p:cNvSpPr/>
          <p:nvPr/>
        </p:nvSpPr>
        <p:spPr>
          <a:xfrm>
            <a:off x="15384780" y="23001732"/>
            <a:ext cx="14388084" cy="8437626"/>
          </a:xfrm>
          <a:prstGeom prst="roundRect">
            <a:avLst>
              <a:gd name="adj" fmla="val 1084"/>
            </a:avLst>
          </a:prstGeom>
          <a:solidFill>
            <a:srgbClr val="FFFFFF"/>
          </a:solidFill>
          <a:ln w="12700">
            <a:solidFill>
              <a:srgbClr val="E0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pt-PT" dirty="0"/>
          </a:p>
        </p:txBody>
      </p:sp>
      <p:sp>
        <p:nvSpPr>
          <p:cNvPr id="79" name="Shape 73"/>
          <p:cNvSpPr/>
          <p:nvPr/>
        </p:nvSpPr>
        <p:spPr>
          <a:xfrm>
            <a:off x="15393924" y="23166324"/>
            <a:ext cx="201168" cy="8108442"/>
          </a:xfrm>
          <a:prstGeom prst="rect">
            <a:avLst/>
          </a:prstGeom>
          <a:solidFill>
            <a:srgbClr val="0D7B6E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80" name="Text 74"/>
          <p:cNvSpPr/>
          <p:nvPr/>
        </p:nvSpPr>
        <p:spPr>
          <a:xfrm>
            <a:off x="15750540" y="23184612"/>
            <a:ext cx="139308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5400" dirty="0"/>
          </a:p>
        </p:txBody>
      </p:sp>
      <p:sp>
        <p:nvSpPr>
          <p:cNvPr id="81" name="Shape 75"/>
          <p:cNvSpPr/>
          <p:nvPr/>
        </p:nvSpPr>
        <p:spPr>
          <a:xfrm>
            <a:off x="15750540" y="23852124"/>
            <a:ext cx="13839444" cy="0"/>
          </a:xfrm>
          <a:prstGeom prst="line">
            <a:avLst/>
          </a:prstGeom>
          <a:noFill/>
          <a:ln w="19050">
            <a:solidFill>
              <a:srgbClr val="E0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82" name="Shape 76"/>
          <p:cNvSpPr/>
          <p:nvPr/>
        </p:nvSpPr>
        <p:spPr>
          <a:xfrm>
            <a:off x="15887700" y="25980292"/>
            <a:ext cx="6896862" cy="3456335"/>
          </a:xfrm>
          <a:prstGeom prst="roundRect">
            <a:avLst>
              <a:gd name="adj" fmla="val 2098"/>
            </a:avLst>
          </a:prstGeom>
          <a:solidFill>
            <a:srgbClr val="FFFFFF"/>
          </a:solidFill>
          <a:ln w="25400">
            <a:solidFill>
              <a:srgbClr val="E8440A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PT" sz="3600" dirty="0" err="1"/>
              <a:t>MediaPipe</a:t>
            </a:r>
            <a:r>
              <a:rPr lang="pt-PT" sz="3600" dirty="0"/>
              <a:t>: ~70 FPS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PT" sz="3600" dirty="0"/>
              <a:t>YOLO Pose: ~35 FPS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PT" sz="3600" dirty="0"/>
              <a:t>Processamento local em tempo real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PT" sz="3600" dirty="0"/>
              <a:t>Baixa latência</a:t>
            </a:r>
          </a:p>
        </p:txBody>
      </p:sp>
      <p:sp>
        <p:nvSpPr>
          <p:cNvPr id="83" name="Shape 77"/>
          <p:cNvSpPr/>
          <p:nvPr/>
        </p:nvSpPr>
        <p:spPr>
          <a:xfrm>
            <a:off x="15907155" y="25164745"/>
            <a:ext cx="6896862" cy="685800"/>
          </a:xfrm>
          <a:prstGeom prst="rect">
            <a:avLst/>
          </a:prstGeom>
          <a:solidFill>
            <a:srgbClr val="E8440A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84" name="Text 78"/>
          <p:cNvSpPr/>
          <p:nvPr/>
        </p:nvSpPr>
        <p:spPr>
          <a:xfrm>
            <a:off x="15887700" y="25164745"/>
            <a:ext cx="689686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 </a:t>
            </a:r>
            <a:r>
              <a:rPr lang="en-US" sz="5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Elevados</a:t>
            </a:r>
            <a:endParaRPr lang="en-US" sz="5400" dirty="0"/>
          </a:p>
        </p:txBody>
      </p:sp>
      <p:sp>
        <p:nvSpPr>
          <p:cNvPr id="85" name="Text 79"/>
          <p:cNvSpPr/>
          <p:nvPr/>
        </p:nvSpPr>
        <p:spPr>
          <a:xfrm>
            <a:off x="15869412" y="24830532"/>
            <a:ext cx="6622542" cy="25728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4400" dirty="0"/>
          </a:p>
        </p:txBody>
      </p:sp>
      <p:sp>
        <p:nvSpPr>
          <p:cNvPr id="98" name="Shape 92"/>
          <p:cNvSpPr/>
          <p:nvPr/>
        </p:nvSpPr>
        <p:spPr>
          <a:xfrm>
            <a:off x="502920" y="31805118"/>
            <a:ext cx="14388084" cy="8437626"/>
          </a:xfrm>
          <a:prstGeom prst="roundRect">
            <a:avLst>
              <a:gd name="adj" fmla="val 1084"/>
            </a:avLst>
          </a:prstGeom>
          <a:solidFill>
            <a:srgbClr val="FFFFFF"/>
          </a:solidFill>
          <a:ln w="12700">
            <a:solidFill>
              <a:srgbClr val="E0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99" name="Shape 93"/>
          <p:cNvSpPr/>
          <p:nvPr/>
        </p:nvSpPr>
        <p:spPr>
          <a:xfrm>
            <a:off x="512064" y="31969710"/>
            <a:ext cx="201168" cy="8108442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00" name="Text 94"/>
          <p:cNvSpPr/>
          <p:nvPr/>
        </p:nvSpPr>
        <p:spPr>
          <a:xfrm>
            <a:off x="868680" y="31987998"/>
            <a:ext cx="139308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PT" sz="5400" b="1" dirty="0"/>
              <a:t>Desafios Técnicos</a:t>
            </a:r>
            <a:endParaRPr lang="en-US" sz="5400" b="1" dirty="0"/>
          </a:p>
        </p:txBody>
      </p:sp>
      <p:sp>
        <p:nvSpPr>
          <p:cNvPr id="101" name="Shape 95"/>
          <p:cNvSpPr/>
          <p:nvPr/>
        </p:nvSpPr>
        <p:spPr>
          <a:xfrm>
            <a:off x="868680" y="32655510"/>
            <a:ext cx="13839444" cy="0"/>
          </a:xfrm>
          <a:prstGeom prst="line">
            <a:avLst/>
          </a:prstGeom>
          <a:noFill/>
          <a:ln w="19050">
            <a:solidFill>
              <a:srgbClr val="E0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2" name="Text 96"/>
          <p:cNvSpPr/>
          <p:nvPr/>
        </p:nvSpPr>
        <p:spPr>
          <a:xfrm>
            <a:off x="886968" y="32810958"/>
            <a:ext cx="13885164" cy="72489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4400" dirty="0">
                <a:solidFill>
                  <a:srgbClr val="3D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Erros de formato de imagem ARGB_8888 na câmara Android</a:t>
            </a:r>
            <a:endParaRPr lang="en-US" sz="4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4400" dirty="0">
                <a:solidFill>
                  <a:srgbClr val="3D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Conflitos entre versões de bibliotecas do Android</a:t>
            </a:r>
            <a:endParaRPr lang="en-US" sz="4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4400" dirty="0">
                <a:solidFill>
                  <a:srgbClr val="3D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Imports e configurações do MediaPipe Tasks</a:t>
            </a:r>
            <a:endParaRPr lang="en-US" sz="4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4400" dirty="0">
                <a:solidFill>
                  <a:srgbClr val="3D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Otimização de FPS para processamento em tempo real</a:t>
            </a:r>
            <a:endParaRPr lang="en-US" sz="4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4400" dirty="0">
                <a:solidFill>
                  <a:srgbClr val="3D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Deteção de utilizador de costas / ângulos não frontais</a:t>
            </a:r>
            <a:endParaRPr lang="en-US" sz="4400" dirty="0"/>
          </a:p>
        </p:txBody>
      </p:sp>
      <p:sp>
        <p:nvSpPr>
          <p:cNvPr id="103" name="Shape 97"/>
          <p:cNvSpPr/>
          <p:nvPr/>
        </p:nvSpPr>
        <p:spPr>
          <a:xfrm>
            <a:off x="15384780" y="31805118"/>
            <a:ext cx="14388084" cy="8437626"/>
          </a:xfrm>
          <a:prstGeom prst="roundRect">
            <a:avLst>
              <a:gd name="adj" fmla="val 1084"/>
            </a:avLst>
          </a:prstGeom>
          <a:solidFill>
            <a:srgbClr val="FFFFFF"/>
          </a:solidFill>
          <a:ln w="12700">
            <a:solidFill>
              <a:srgbClr val="E0E6F0"/>
            </a:solidFill>
            <a:prstDash val="solid"/>
          </a:ln>
          <a:effectLst>
            <a:outerShdw blurRad="101600" dist="381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04" name="Shape 98"/>
          <p:cNvSpPr/>
          <p:nvPr/>
        </p:nvSpPr>
        <p:spPr>
          <a:xfrm>
            <a:off x="15393924" y="31969710"/>
            <a:ext cx="201168" cy="8108442"/>
          </a:xfrm>
          <a:prstGeom prst="rect">
            <a:avLst/>
          </a:prstGeom>
          <a:solidFill>
            <a:srgbClr val="2C3E6B"/>
          </a:solidFill>
          <a:ln/>
        </p:spPr>
        <p:txBody>
          <a:bodyPr/>
          <a:lstStyle/>
          <a:p>
            <a:endParaRPr lang="pt-PT"/>
          </a:p>
        </p:txBody>
      </p:sp>
      <p:sp>
        <p:nvSpPr>
          <p:cNvPr id="105" name="Text 99"/>
          <p:cNvSpPr/>
          <p:nvPr/>
        </p:nvSpPr>
        <p:spPr>
          <a:xfrm>
            <a:off x="15750540" y="31987998"/>
            <a:ext cx="139308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5400" dirty="0"/>
          </a:p>
        </p:txBody>
      </p:sp>
      <p:sp>
        <p:nvSpPr>
          <p:cNvPr id="106" name="Shape 100"/>
          <p:cNvSpPr/>
          <p:nvPr/>
        </p:nvSpPr>
        <p:spPr>
          <a:xfrm>
            <a:off x="15750540" y="32655510"/>
            <a:ext cx="13839444" cy="0"/>
          </a:xfrm>
          <a:prstGeom prst="line">
            <a:avLst/>
          </a:prstGeom>
          <a:noFill/>
          <a:ln w="19050">
            <a:solidFill>
              <a:srgbClr val="E0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7" name="Shape 101"/>
          <p:cNvSpPr/>
          <p:nvPr/>
        </p:nvSpPr>
        <p:spPr>
          <a:xfrm>
            <a:off x="15768828" y="32810958"/>
            <a:ext cx="13885164" cy="7248906"/>
          </a:xfrm>
          <a:prstGeom prst="roundRect">
            <a:avLst>
              <a:gd name="adj" fmla="val 1009"/>
            </a:avLst>
          </a:prstGeom>
          <a:solidFill>
            <a:srgbClr val="EFF3FB"/>
          </a:solidFill>
          <a:ln w="19050">
            <a:solidFill>
              <a:srgbClr val="2C3E6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8" name="Text 102"/>
          <p:cNvSpPr/>
          <p:nvPr/>
        </p:nvSpPr>
        <p:spPr>
          <a:xfrm>
            <a:off x="16024860" y="32993838"/>
            <a:ext cx="13473684" cy="68831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CoachAI demonstrou o potencial da Human Pose Estimation em dispositivos móveis para análise técnica de exercícios físicos em tempo real.</a:t>
            </a:r>
            <a:endParaRPr lang="en-US" sz="4400" dirty="0"/>
          </a:p>
          <a:p>
            <a:pPr marL="0" indent="0">
              <a:buNone/>
            </a:pPr>
            <a:endParaRPr lang="en-US" sz="4400" dirty="0"/>
          </a:p>
          <a:p>
            <a:pPr marL="0" indent="0">
              <a:buNone/>
            </a:pPr>
            <a:r>
              <a:rPr lang="en-US" sz="4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processa vídeo localmente, calcula métricas biomecânicas e fornece feedback visual imediato ao utilizador — sem depender de conectividade à internet.</a:t>
            </a:r>
            <a:endParaRPr lang="en-US" sz="4400" dirty="0"/>
          </a:p>
          <a:p>
            <a:pPr marL="0" indent="0">
              <a:buNone/>
            </a:pPr>
            <a:endParaRPr lang="en-US" sz="4400" dirty="0"/>
          </a:p>
          <a:p>
            <a:pPr marL="0" indent="0">
              <a:buNone/>
            </a:pPr>
            <a:r>
              <a:rPr lang="en-US" sz="4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futuro inclui suporte a mais exercícios, melhoria da deteção lateral e comparação completa de modelos HPE.</a:t>
            </a:r>
            <a:endParaRPr lang="en-US" sz="2200" dirty="0"/>
          </a:p>
        </p:txBody>
      </p:sp>
      <p:pic>
        <p:nvPicPr>
          <p:cNvPr id="122" name="Imagem 121" descr="A person wearing a full-body rollerblade suit stands in a room, holding their arms out to balance.&#10;&#10;Os conteúdos gerados por IA podem estar incorretos.">
            <a:extLst>
              <a:ext uri="{FF2B5EF4-FFF2-40B4-BE49-F238E27FC236}">
                <a16:creationId xmlns:a16="http://schemas.microsoft.com/office/drawing/2014/main" id="{2F5D385D-E571-4E39-40AD-CF4723138F9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7329" r="30871"/>
          <a:stretch>
            <a:fillRect/>
          </a:stretch>
        </p:blipFill>
        <p:spPr>
          <a:xfrm>
            <a:off x="23095069" y="23852124"/>
            <a:ext cx="2196846" cy="7007346"/>
          </a:xfrm>
          <a:prstGeom prst="rect">
            <a:avLst/>
          </a:prstGeom>
        </p:spPr>
      </p:pic>
      <p:pic>
        <p:nvPicPr>
          <p:cNvPr id="126" name="Imagem 125" descr="The image depicts a person in a motion capture suit, illustrating their movement in a 3D space with anatomical markers.&#10;&#10;Os conteúdos gerados por IA podem estar incorretos.">
            <a:extLst>
              <a:ext uri="{FF2B5EF4-FFF2-40B4-BE49-F238E27FC236}">
                <a16:creationId xmlns:a16="http://schemas.microsoft.com/office/drawing/2014/main" id="{98BD446D-D6EA-6674-D92F-2165F98A172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3987" r="6001"/>
          <a:stretch>
            <a:fillRect/>
          </a:stretch>
        </p:blipFill>
        <p:spPr>
          <a:xfrm>
            <a:off x="25291915" y="23852124"/>
            <a:ext cx="2782111" cy="7007346"/>
          </a:xfrm>
          <a:prstGeom prst="rect">
            <a:avLst/>
          </a:prstGeom>
        </p:spPr>
      </p:pic>
      <p:pic>
        <p:nvPicPr>
          <p:cNvPr id="87" name="Imagem 86" descr="The image illustrates a multi-step video capture process involving smartphone camera, Kotlin, MediaPipe for human pose estimation, OpenCV for landmark extraction, and real-time feedback.&#10;&#10;Os conteúdos gerados por IA podem estar incorretos.">
            <a:extLst>
              <a:ext uri="{FF2B5EF4-FFF2-40B4-BE49-F238E27FC236}">
                <a16:creationId xmlns:a16="http://schemas.microsoft.com/office/drawing/2014/main" id="{4F82D899-D2DD-29D8-F4B7-17AD94B4E5E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6596" r="38766"/>
          <a:stretch>
            <a:fillRect/>
          </a:stretch>
        </p:blipFill>
        <p:spPr>
          <a:xfrm>
            <a:off x="19251173" y="15129010"/>
            <a:ext cx="6655297" cy="7203053"/>
          </a:xfrm>
          <a:prstGeom prst="rect">
            <a:avLst/>
          </a:prstGeom>
        </p:spPr>
      </p:pic>
      <p:pic>
        <p:nvPicPr>
          <p:cNvPr id="89" name="Imagem 88" descr="The image is a visual representation of a list of various technologies and tools related to mobile app development, including Kotlin, CameraX, MediaPipe, Pose Landmarker, OpenCV, and an FPS (frames per second) analyzer.&#10;&#10;Os conteúdos gerados por IA podem estar incorretos.">
            <a:extLst>
              <a:ext uri="{FF2B5EF4-FFF2-40B4-BE49-F238E27FC236}">
                <a16:creationId xmlns:a16="http://schemas.microsoft.com/office/drawing/2014/main" id="{B8DFF4BC-AEC5-75FA-3849-A1355C4E732F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9533"/>
          <a:stretch>
            <a:fillRect/>
          </a:stretch>
        </p:blipFill>
        <p:spPr>
          <a:xfrm>
            <a:off x="9690714" y="15129009"/>
            <a:ext cx="5140580" cy="7474601"/>
          </a:xfrm>
          <a:prstGeom prst="rect">
            <a:avLst/>
          </a:prstGeom>
        </p:spPr>
      </p:pic>
      <p:sp>
        <p:nvSpPr>
          <p:cNvPr id="90" name="CaixaDeTexto 89">
            <a:extLst>
              <a:ext uri="{FF2B5EF4-FFF2-40B4-BE49-F238E27FC236}">
                <a16:creationId xmlns:a16="http://schemas.microsoft.com/office/drawing/2014/main" id="{C234C122-66E3-CFD2-26F5-0EC7C748C534}"/>
              </a:ext>
            </a:extLst>
          </p:cNvPr>
          <p:cNvSpPr txBox="1"/>
          <p:nvPr/>
        </p:nvSpPr>
        <p:spPr>
          <a:xfrm>
            <a:off x="1110996" y="15729632"/>
            <a:ext cx="8213344" cy="57861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PT" sz="4400" b="1" dirty="0" err="1">
                <a:solidFill>
                  <a:srgbClr val="3D4A6B"/>
                </a:solidFill>
              </a:rPr>
              <a:t>Kotlin</a:t>
            </a:r>
            <a:r>
              <a:rPr lang="pt-PT" sz="4400" dirty="0">
                <a:solidFill>
                  <a:srgbClr val="3D4A6B"/>
                </a:solidFill>
              </a:rPr>
              <a:t> – Aplicação Android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PT" sz="4400" b="1" dirty="0" err="1">
                <a:solidFill>
                  <a:srgbClr val="3D4A6B"/>
                </a:solidFill>
              </a:rPr>
              <a:t>CameraX</a:t>
            </a:r>
            <a:r>
              <a:rPr lang="pt-PT" sz="4400" dirty="0">
                <a:solidFill>
                  <a:srgbClr val="3D4A6B"/>
                </a:solidFill>
              </a:rPr>
              <a:t> – Captura de vídeo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PT" sz="4400" b="1" dirty="0" err="1">
                <a:solidFill>
                  <a:srgbClr val="3D4A6B"/>
                </a:solidFill>
              </a:rPr>
              <a:t>MediaPipe</a:t>
            </a:r>
            <a:r>
              <a:rPr lang="pt-PT" sz="4400" b="1" dirty="0">
                <a:solidFill>
                  <a:srgbClr val="3D4A6B"/>
                </a:solidFill>
              </a:rPr>
              <a:t> Pose </a:t>
            </a:r>
            <a:r>
              <a:rPr lang="pt-PT" sz="4400" b="1" dirty="0" err="1">
                <a:solidFill>
                  <a:srgbClr val="3D4A6B"/>
                </a:solidFill>
              </a:rPr>
              <a:t>Landmarker</a:t>
            </a:r>
            <a:r>
              <a:rPr lang="pt-PT" sz="4400" b="1" dirty="0">
                <a:solidFill>
                  <a:srgbClr val="3D4A6B"/>
                </a:solidFill>
              </a:rPr>
              <a:t> </a:t>
            </a:r>
            <a:r>
              <a:rPr lang="pt-PT" sz="4400" dirty="0">
                <a:solidFill>
                  <a:srgbClr val="3D4A6B"/>
                </a:solidFill>
              </a:rPr>
              <a:t>– Deteção da pose humana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PT" sz="4400" b="1" dirty="0" err="1">
                <a:solidFill>
                  <a:srgbClr val="3D4A6B"/>
                </a:solidFill>
              </a:rPr>
              <a:t>OpenCV</a:t>
            </a:r>
            <a:r>
              <a:rPr lang="pt-PT" sz="4400" dirty="0">
                <a:solidFill>
                  <a:srgbClr val="3D4A6B"/>
                </a:solidFill>
              </a:rPr>
              <a:t> – Processamento de imagem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PT" sz="4400" b="1" dirty="0">
                <a:solidFill>
                  <a:srgbClr val="3D4A6B"/>
                </a:solidFill>
              </a:rPr>
              <a:t>Análise de FPS </a:t>
            </a:r>
            <a:r>
              <a:rPr lang="pt-PT" sz="4400" dirty="0">
                <a:solidFill>
                  <a:srgbClr val="3D4A6B"/>
                </a:solidFill>
              </a:rPr>
              <a:t>– Avaliação de desempenho</a:t>
            </a:r>
          </a:p>
          <a:p>
            <a:endParaRPr lang="pt-PT" dirty="0"/>
          </a:p>
        </p:txBody>
      </p:sp>
      <p:pic>
        <p:nvPicPr>
          <p:cNvPr id="93" name="Imagem 92" descr="The image is a comparison table displaying different facial recognition software platforms, their performance metrics, and compatibility statuses.&#10;&#10;Os conteúdos gerados por IA podem estar incorretos.">
            <a:extLst>
              <a:ext uri="{FF2B5EF4-FFF2-40B4-BE49-F238E27FC236}">
                <a16:creationId xmlns:a16="http://schemas.microsoft.com/office/drawing/2014/main" id="{3CDEFC6C-396A-63B7-566A-5E4BC1D3BC9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6969" y="24579204"/>
            <a:ext cx="13944326" cy="618179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311</Words>
  <Application>Microsoft Office PowerPoint</Application>
  <PresentationFormat>Personalizados</PresentationFormat>
  <Paragraphs>52</Paragraphs>
  <Slides>1</Slides>
  <Notes>1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AFONSO LUÍS PEREIRA DA SILVA</cp:lastModifiedBy>
  <cp:revision>13</cp:revision>
  <dcterms:created xsi:type="dcterms:W3CDTF">2026-05-26T09:20:01Z</dcterms:created>
  <dcterms:modified xsi:type="dcterms:W3CDTF">2026-06-08T19:48:21Z</dcterms:modified>
</cp:coreProperties>
</file>